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0"/>
            <a:ext cx="109728" cy="5143500"/>
          </a:xfrm>
          <a:prstGeom prst="rect">
            <a:avLst/>
          </a:prstGeom>
          <a:solidFill>
            <a:srgbClr val="A0302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457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FleGrowth 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シブカツ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2011680" cy="0"/>
          </a:xfrm>
          <a:prstGeom prst="line">
            <a:avLst/>
          </a:prstGeom>
          <a:noFill/>
          <a:ln w="10160">
            <a:solidFill>
              <a:srgbClr val="FF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渋谷ヒカリエ 8F
</a:t>
            </a:r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S-SAP協定 企業連携講座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知って安心！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AI時代の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詐欺の手口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852160" cy="45720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918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フィンテック企業が教える自己防衛術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64008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89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4389120"/>
            <a:ext cx="132588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3891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体験デモあり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4389120"/>
            <a:ext cx="169164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389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持ち帰りカード付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「自分は大丈夫」が最大の危険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約2,000億円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37744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詐欺被害総額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（前年比約2倍）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383280" y="2240280"/>
            <a:ext cx="237744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被害者のうち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「自分は大丈夫」と思っていた割合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05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1,358万円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309360" y="2240280"/>
            <a:ext cx="237744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31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SNS型投資詐欺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1件あたりの平均被害額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出典：警察庁「令和6年における特殊詐欺及びSNS型投資・ロマンス詐欺」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DE8E5"/>
          </a:solidFill>
          <a:ln w="10160">
            <a:solidFill>
              <a:srgbClr val="C04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72000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被害者の95%は「まさか自分が」と思っていた。今日は「知っている人」になって帰りましょう。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今日学ぶ3つの手口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70432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77240" cy="1170432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SNS型投資詐欺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538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著名人のなりすまし広告からLINEに誘導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4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43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被害額 871億円（2024年）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1170432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94560"/>
            <a:ext cx="777240" cy="1170432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94560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3591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フィッシング詐欺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797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AIが生成した「本物そっくり」のメール・SMS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E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報告件数171万件超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170432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20440"/>
            <a:ext cx="777240" cy="1170432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20440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685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ディープフェイク詐欺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1056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写真1枚・音声3秒で本人そっくりのビデオ通話を偽造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794760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794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本日デモあり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手口①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SNS型投資詐欺 ─ 著名人なりすまし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475488" cy="475488"/>
          </a:xfrm>
          <a:prstGeom prst="ellipse">
            <a:avLst/>
          </a:prstGeom>
          <a:solidFill>
            <a:srgbClr val="C0403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50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335024"/>
            <a:ext cx="0" cy="429768"/>
          </a:xfrm>
          <a:prstGeom prst="line">
            <a:avLst/>
          </a:prstGeom>
          <a:noFill/>
          <a:ln w="19050">
            <a:solidFill>
              <a:srgbClr val="C0403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804672"/>
            <a:ext cx="36576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59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SNS広告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338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著名人の写真・動画を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無断使用した偽広告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（Facebook・Instagram）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475488" cy="475488"/>
          </a:xfrm>
          <a:prstGeom prst="ellipse">
            <a:avLst/>
          </a:prstGeom>
          <a:solidFill>
            <a:srgbClr val="C0403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" y="2322576"/>
            <a:ext cx="0" cy="429768"/>
          </a:xfrm>
          <a:prstGeom prst="line">
            <a:avLst/>
          </a:prstGeom>
          <a:noFill/>
          <a:ln w="19050">
            <a:solidFill>
              <a:srgbClr val="C0403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14400" y="1792224"/>
            <a:ext cx="36576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LINEへ誘導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214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クリックするとLINE登録を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促される（45%がFacebook経由）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25496"/>
            <a:ext cx="475488" cy="475488"/>
          </a:xfrm>
          <a:prstGeom prst="ellipse">
            <a:avLst/>
          </a:prstGeom>
          <a:solidFill>
            <a:srgbClr val="C0403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" y="3310128"/>
            <a:ext cx="0" cy="429768"/>
          </a:xfrm>
          <a:prstGeom prst="line">
            <a:avLst/>
          </a:prstGeom>
          <a:noFill/>
          <a:ln w="19050">
            <a:solidFill>
              <a:srgbClr val="C0403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2779776"/>
            <a:ext cx="36576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グループ投資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100人規模のグループに招待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サクラが「儲かった！」を連投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813048"/>
            <a:ext cx="475488" cy="475488"/>
          </a:xfrm>
          <a:prstGeom prst="ellipse">
            <a:avLst/>
          </a:prstGeom>
          <a:solidFill>
            <a:srgbClr val="C0403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767328"/>
            <a:ext cx="36576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出金拒否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096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「税金」「手数料」名目で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さらに入金要求→連絡途絶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804672"/>
            <a:ext cx="4023360" cy="4023360"/>
          </a:xfrm>
          <a:prstGeom prst="rect">
            <a:avLst/>
          </a:prstGeom>
          <a:solidFill>
            <a:srgbClr val="FDE8E5"/>
          </a:solidFill>
          <a:ln w="10160">
            <a:solidFill>
              <a:srgbClr val="C04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877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実際の被害事例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1316736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前澤友作氏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1408176"/>
            <a:ext cx="1737360" cy="219456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1408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約20億円被害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188件のなりすましでMeta社を提訴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048256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堀江貴文氏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03720" y="2139696"/>
            <a:ext cx="1737360" cy="219456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139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約2億2千万円被害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2377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AI合成音声を使った詐欺（大阪）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2779776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池上彰氏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03720" y="2871216"/>
            <a:ext cx="1737360" cy="219456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28712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710万円被害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108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広島県 72歳男性が被害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511296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森永卓郎氏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03720" y="3602736"/>
            <a:ext cx="1737360" cy="219456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3602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約600万円被害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3840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60代男性が被害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6451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に誘導されたら即注意！　連絡先が個人名義口座・毎回口座が変わる → 詐欺の確実なサイン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3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この広告、本物？偽物？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3898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「偽物だとわかるポイントを3つ探してみてください」（1分間）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2560320"/>
          </a:xfrm>
          <a:prstGeom prst="rect">
            <a:avLst/>
          </a:prstGeom>
          <a:solidFill>
            <a:srgbClr val="0A1428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20240"/>
            <a:ext cx="6400800" cy="347472"/>
          </a:xfrm>
          <a:prstGeom prst="rect">
            <a:avLst/>
          </a:prstGeom>
          <a:solidFill>
            <a:srgbClr val="1A2A50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93852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Sponsored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2359152"/>
            <a:ext cx="914400" cy="914400"/>
          </a:xfrm>
          <a:prstGeom prst="ellipse">
            <a:avLst/>
          </a:prstGeom>
          <a:solidFill>
            <a:srgbClr val="2A4070"/>
          </a:solidFill>
          <a:ln w="12700">
            <a:solidFill>
              <a:srgbClr val="406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3591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著名人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35915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【緊急】私が実際に使っている投資法を公開！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1ヶ月で資産が3倍になりました。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今なら無料で参加できます。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429000"/>
            <a:ext cx="2286000" cy="365760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今すぐLINEで受け取る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617720"/>
            <a:ext cx="242316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ヒント1：「必ず儲かる」表現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4617720"/>
            <a:ext cx="242316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4617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ヒント2：LINE誘導ボタン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2423160" cy="329184"/>
          </a:xfrm>
          <a:prstGeom prst="rect">
            <a:avLst/>
          </a:prstGeom>
          <a:solidFill>
            <a:srgbClr val="1E3E6D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4617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ヒント3：「緊急・今だけ」の焦らせ文句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手口②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フィッシング詐欺 ─ AI生成メール・SMS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663440" cy="365760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663440" cy="36576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受信メール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差出人：noreply@mitsubishi-ufj-bank.co.jp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件名：【重要】口座の不正アクセスを検知しました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お客さまへ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5915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お客さまの口座に不審なアクセスが確認されました。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24時間以内にご本人確認が必要です。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以下のリンクからログインしてください。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3697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https://mufg-security-check.com/login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三菱UFJ銀行　セキュリティ管理部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804672"/>
            <a:ext cx="374904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804672"/>
            <a:ext cx="3749040" cy="54864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877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見分けるための3チェック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12080" y="1298448"/>
            <a:ext cx="384048" cy="384048"/>
          </a:xfrm>
          <a:prstGeom prst="ellipse">
            <a:avLst/>
          </a:prstGeom>
          <a:solidFill>
            <a:srgbClr val="103060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7568" y="12984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送信元ドメインを確認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87568" y="160934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本物の三菱UFJは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「@bk.mufg.jp」のみ。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「co.jp」は偽物！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2304288"/>
            <a:ext cx="384048" cy="384048"/>
          </a:xfrm>
          <a:prstGeom prst="ellipse">
            <a:avLst/>
          </a:prstGeom>
          <a:solidFill>
            <a:srgbClr val="103060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87568" y="23042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URLに違和感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87568" y="26151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本物の銀行はHTTPS＋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正規ドメイン。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「security-check」等は偽物。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310128"/>
            <a:ext cx="384048" cy="384048"/>
          </a:xfrm>
          <a:prstGeom prst="ellipse">
            <a:avLst/>
          </a:prstGeom>
          <a:solidFill>
            <a:srgbClr val="103060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3310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メール内のリンクは踏まない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87568" y="3621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ブックマークか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公式アプリから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直接ログイン。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626864"/>
            <a:ext cx="8595360" cy="329184"/>
          </a:xfrm>
          <a:prstGeom prst="rect">
            <a:avLst/>
          </a:prstGeom>
          <a:solidFill>
            <a:srgbClr val="E8EDF7"/>
          </a:solidFill>
          <a:ln w="6350">
            <a:solidFill>
              <a:srgbClr val="CCD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6268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2024年フィッシング報告件数：171万件超（過去最多）　AI生成により「不自然な日本語」という判断基準はもはや通用しない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手口③　体験デモ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「これが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息子からの電話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だとしたら？」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3657600" cy="0"/>
          </a:xfrm>
          <a:prstGeom prst="line">
            <a:avLst/>
          </a:prstGeom>
          <a:noFill/>
          <a:ln w="25400">
            <a:solidFill>
              <a:srgbClr val="C04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写真1枚 ＋ 音声3秒 → 本人そっくりのビデオ通話を偽造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3840480"/>
            <a:ext cx="2468880" cy="1005840"/>
          </a:xfrm>
          <a:prstGeom prst="rect">
            <a:avLst/>
          </a:prstGeom>
          <a:solidFill>
            <a:srgbClr val="C04030">
              <a:alpha val="80000"/>
            </a:srgbClr>
          </a:solidFill>
          <a:ln w="12700">
            <a:solidFill>
              <a:srgbClr val="C04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840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教育用デモ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実際のAI生成は行いません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ディープフェイクとは？ ─ AIが「本人」を偽造する技術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2651760" cy="292608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2651760" cy="54864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914400"/>
            <a:ext cx="731520" cy="731520"/>
          </a:xfrm>
          <a:prstGeom prst="ellipse">
            <a:avLst/>
          </a:prstGeom>
          <a:solidFill>
            <a:srgbClr val="FEF3E2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1783080"/>
            <a:ext cx="1188720" cy="274320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写真1枚＋音声3〜5秒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SNSのアイコン写真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LINEの音声メモで充分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1528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64408" y="804672"/>
            <a:ext cx="2651760" cy="292608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804672"/>
            <a:ext cx="2651760" cy="54864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24528" y="914400"/>
            <a:ext cx="731520" cy="731520"/>
          </a:xfrm>
          <a:prstGeom prst="ellipse">
            <a:avLst/>
          </a:prstGeom>
          <a:solidFill>
            <a:srgbClr val="FEF3E2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95928" y="1783080"/>
            <a:ext cx="1188720" cy="274320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18" name="Text 16"/>
          <p:cNvSpPr/>
          <p:nvPr/>
        </p:nvSpPr>
        <p:spPr>
          <a:xfrm>
            <a:off x="3995928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AI処理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AIが顔・声を学習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5786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数秒〜数分でリップシンク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（口の動き）まで再現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34456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17336" y="804672"/>
            <a:ext cx="2651760" cy="292608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804672"/>
            <a:ext cx="2651760" cy="54864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24" name="Shape 22"/>
          <p:cNvSpPr/>
          <p:nvPr/>
        </p:nvSpPr>
        <p:spPr>
          <a:xfrm>
            <a:off x="7077456" y="914400"/>
            <a:ext cx="731520" cy="731520"/>
          </a:xfrm>
          <a:prstGeom prst="ellipse">
            <a:avLst/>
          </a:prstGeom>
          <a:solidFill>
            <a:srgbClr val="FEF3E2"/>
          </a:solidFill>
          <a:ln w="12700">
            <a:solidFill>
              <a:srgbClr val="E07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48856" y="1783080"/>
            <a:ext cx="1188720" cy="274320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48856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08776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本物そっくりのビデオ通話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25786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見分けることはほぼ不可能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（正確に見分けられる人 1.9%）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913632"/>
            <a:ext cx="8321040" cy="950976"/>
          </a:xfrm>
          <a:prstGeom prst="rect">
            <a:avLst/>
          </a:prstGeom>
          <a:solidFill>
            <a:srgbClr val="FEF3E2"/>
          </a:solidFill>
          <a:ln w="10160">
            <a:solidFill>
              <a:srgbClr val="E07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実際の被害事例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2793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・香港：CFO偽装ビデオ会議で約40億円送金（2024年2月）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805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・日本：堀江貴文氏のAI合成音声で約2億2千万円詐取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・日本：アイドルのディープフェイク動画による投資詐欺が多数発生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3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あなたならどうしますか？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011680"/>
          </a:xfrm>
          <a:prstGeom prst="rect">
            <a:avLst/>
          </a:prstGeom>
          <a:solidFill>
            <a:srgbClr val="0E1F3A"/>
          </a:solidFill>
          <a:ln w="10160">
            <a:solidFill>
              <a:srgbClr val="C8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356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シナリオ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夕方、スマホのLINEにビデオ通話が入った。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画面には息子の顔が映っている。声も息子そのものだ。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「お母さん、急いで。トラブルがあって、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今日中に50万円振り込んでほしいんだ。口座番号送るね。」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あなたが受け取ったら、どうしますか？　隣の人と話し合ってみてください。（2分間）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3977640" cy="402336"/>
          </a:xfrm>
          <a:prstGeom prst="rect">
            <a:avLst/>
          </a:prstGeom>
          <a:solidFill>
            <a:srgbClr val="152540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690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すぐに振り込む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4069080"/>
            <a:ext cx="3977640" cy="402336"/>
          </a:xfrm>
          <a:prstGeom prst="rect">
            <a:avLst/>
          </a:prstGeom>
          <a:solidFill>
            <a:srgbClr val="1D9E75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40690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一度切って確認する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3977640" cy="402336"/>
          </a:xfrm>
          <a:prstGeom prst="rect">
            <a:avLst/>
          </a:prstGeom>
          <a:solidFill>
            <a:srgbClr val="152540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家族に相談する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4572000"/>
            <a:ext cx="3977640" cy="402336"/>
          </a:xfrm>
          <a:prstGeom prst="rect">
            <a:avLst/>
          </a:prstGeom>
          <a:solidFill>
            <a:srgbClr val="152540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5720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警察に相談する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正解の行動フロー ─ 「映像・声でも信用しない」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169164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73152" cy="1691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005840"/>
            <a:ext cx="1051560" cy="27432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005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344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一度電話を切る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17556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「少し待って」と言って通話を終了。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急かされても慌てないことが最重要。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160520" cy="169164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41248"/>
            <a:ext cx="73152" cy="1691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1005840"/>
            <a:ext cx="1051560" cy="27432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005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1344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本人に直接かけ直す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17556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登録してある本人の電話番号に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自分からかける。LINEは使わない。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4160520" cy="169164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61488"/>
            <a:ext cx="73152" cy="1691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2926080"/>
            <a:ext cx="1051560" cy="27432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926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家族・知人に相談する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" y="3675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一人で判断しない。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同居家族や信頼できる人に即相談。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761488"/>
            <a:ext cx="4160520" cy="1691640"/>
          </a:xfrm>
          <a:prstGeom prst="rect">
            <a:avLst/>
          </a:prstGeom>
          <a:solidFill>
            <a:srgbClr val="F7F9FC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61488"/>
            <a:ext cx="73152" cy="1691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9472" y="2926080"/>
            <a:ext cx="1051560" cy="27432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926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不審なら通報・相談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19472" y="3675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消費者ホットライン 188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警察相談窓口 #9110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鉄則：「映像が本物でも声が本物でも、一度切って自分からかけ直す」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30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覚えて帰ろう ─ 自衛の3原則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73152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1005840"/>
            <a:ext cx="822960" cy="822960"/>
          </a:xfrm>
          <a:prstGeom prst="ellipse">
            <a:avLst/>
          </a:prstGeom>
          <a:solidFill>
            <a:srgbClr val="C04030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「必ず儲かる」は詐欺ワード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233172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80944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「元本保証」「絶対に利益が出る」は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金融商品取引法上違法な表現。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この言葉が出た瞬間に詐欺を疑う。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206240"/>
            <a:ext cx="2514600" cy="329184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出てきたら即疑う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822960"/>
            <a:ext cx="2788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822960"/>
            <a:ext cx="2788920" cy="73152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9664" y="1005840"/>
            <a:ext cx="822960" cy="822960"/>
          </a:xfrm>
          <a:prstGeom prst="ellipse">
            <a:avLst/>
          </a:prstGeom>
          <a:solidFill>
            <a:srgbClr val="1E3E6D"/>
          </a:solidFill>
          <a:ln/>
        </p:spPr>
      </p:sp>
      <p:sp>
        <p:nvSpPr>
          <p:cNvPr id="17" name="Text 15"/>
          <p:cNvSpPr/>
          <p:nvPr/>
        </p:nvSpPr>
        <p:spPr>
          <a:xfrm>
            <a:off x="4169664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73552" y="1938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22311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LINEに誘導されたら要注意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410712" y="2907792"/>
            <a:ext cx="233172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980944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正規の金融機関はSNSや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LINEで投資話をしない。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公式サイト・電話で必ず確認。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4206240"/>
            <a:ext cx="2514600" cy="329184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公式ルートで確認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822960"/>
            <a:ext cx="2788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E8"/>
            </a:solidFill>
            <a:prstDash val="solid"/>
          </a:ln>
          <a:effectLst>
            <a:outerShdw sx="100000" sy="100000" kx="0" ky="0" algn="bl" rotWithShape="0" blurRad="101600" dist="38100" dir="8100000">
              <a:srgbClr val="10306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822960"/>
            <a:ext cx="2788920" cy="73152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26" name="Shape 24"/>
          <p:cNvSpPr/>
          <p:nvPr/>
        </p:nvSpPr>
        <p:spPr>
          <a:xfrm>
            <a:off x="7077456" y="1005840"/>
            <a:ext cx="822960" cy="822960"/>
          </a:xfrm>
          <a:prstGeom prst="ellipse">
            <a:avLst/>
          </a:prstGeom>
          <a:solidFill>
            <a:srgbClr val="E07820"/>
          </a:solidFill>
          <a:ln/>
        </p:spPr>
      </p:sp>
      <p:sp>
        <p:nvSpPr>
          <p:cNvPr id="27" name="Text 25"/>
          <p:cNvSpPr/>
          <p:nvPr/>
        </p:nvSpPr>
        <p:spPr>
          <a:xfrm>
            <a:off x="7077456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81344" y="1938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81344" y="22311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映像・声でも信用しない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18504" y="2907792"/>
            <a:ext cx="2331720" cy="0"/>
          </a:xfrm>
          <a:prstGeom prst="line">
            <a:avLst/>
          </a:prstGeom>
          <a:noFill/>
          <a:ln w="6350">
            <a:solidFill>
              <a:srgbClr val="CCD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980944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ディープフェイクで顔も声も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偽造できる時代。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一度切って本人に直接かけ直す。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27064" y="4206240"/>
            <a:ext cx="2514600" cy="329184"/>
          </a:xfrm>
          <a:prstGeom prst="rect">
            <a:avLst/>
          </a:prstGeom>
          <a:solidFill>
            <a:srgbClr val="E07820"/>
          </a:solidFill>
          <a:ln/>
        </p:spPr>
      </p:sp>
      <p:sp>
        <p:nvSpPr>
          <p:cNvPr id="33" name="Text 31"/>
          <p:cNvSpPr/>
          <p:nvPr/>
        </p:nvSpPr>
        <p:spPr>
          <a:xfrm>
            <a:off x="6227064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一度切ってかけ直す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この3原則チェックカードは本日お持ち帰りください → 家族や友人に話してみましょう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E6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困ったときの相談窓口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788920" cy="2377440"/>
          </a:xfrm>
          <a:prstGeom prst="rect">
            <a:avLst/>
          </a:prstGeom>
          <a:solidFill>
            <a:srgbClr val="0E1F3A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788920" cy="54864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消費者ホットライン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242316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579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最寄りの消費生活センターを案内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（全国共通・無料）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749808"/>
            <a:ext cx="2788920" cy="2377440"/>
          </a:xfrm>
          <a:prstGeom prst="rect">
            <a:avLst/>
          </a:prstGeom>
          <a:solidFill>
            <a:srgbClr val="0E1F3A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749808"/>
            <a:ext cx="2788920" cy="54864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914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#9110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9272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警察相談専用窓口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0712" y="2066544"/>
            <a:ext cx="242316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1579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犯罪かどうか不明でも相談OK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（全国共通）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749808"/>
            <a:ext cx="2788920" cy="2377440"/>
          </a:xfrm>
          <a:prstGeom prst="rect">
            <a:avLst/>
          </a:prstGeom>
          <a:solidFill>
            <a:srgbClr val="0E1F3A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749808"/>
            <a:ext cx="2788920" cy="54864"/>
          </a:xfrm>
          <a:prstGeom prst="rect">
            <a:avLst/>
          </a:prstGeom>
          <a:solidFill>
            <a:srgbClr val="C0403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914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0570-050588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27064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金融庁 詐欺的な投資相談ダイヤル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18504" y="2066544"/>
            <a:ext cx="242316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1579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平日 10:00〜17:00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8503920" cy="1554480"/>
          </a:xfrm>
          <a:prstGeom prst="rect">
            <a:avLst/>
          </a:prstGeom>
          <a:solidFill>
            <a:srgbClr val="0E1F3A"/>
          </a:solidFill>
          <a:ln w="7620">
            <a:solidFill>
              <a:srgbClr val="C8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649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本日のポイント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AIで「声も顔も本物」な偽ビデオ通話が作れる時代になった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507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「自分は大丈夫」と思った瞬間が一番危ない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迷ったら → ①一度切る ②本人確認 ③188 / #9110 に相談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FleGrowth（フレグロース）　トレイダーズHDグループ　渋谷区 S-SAP協定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知って安心！AI時代の詐欺の手口</dc:title>
  <dc:subject>PptxGenJS Presentation</dc:subject>
  <dc:creator>PptxGenJS</dc:creator>
  <cp:lastModifiedBy>PptxGenJS</cp:lastModifiedBy>
  <cp:revision>1</cp:revision>
  <dcterms:created xsi:type="dcterms:W3CDTF">2026-03-26T05:25:43Z</dcterms:created>
  <dcterms:modified xsi:type="dcterms:W3CDTF">2026-03-26T05:25:43Z</dcterms:modified>
</cp:coreProperties>
</file>